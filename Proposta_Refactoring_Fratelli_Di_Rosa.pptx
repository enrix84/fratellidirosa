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554480" cy="1554480"/>
          </a:xfrm>
          <a:prstGeom prst="ellipse">
            <a:avLst/>
          </a:prstGeom>
          <a:solidFill>
            <a:srgbClr val="141821"/>
          </a:solidFill>
          <a:ln w="381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4000" b="1">
                <a:solidFill>
                  <a:srgbClr val="7B8FA3"/>
                </a:solidFill>
                <a:latin typeface="Georgia"/>
              </a:defRPr>
            </a:pPr>
            <a:r>
              <a:t>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B8FA3"/>
                </a:solidFill>
                <a:latin typeface="Calibri"/>
              </a:defRPr>
            </a:pPr>
            <a:r>
              <a:t>PROPOSTA COMMERCIALE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EAED"/>
                </a:solidFill>
                <a:latin typeface="Georgia"/>
              </a:defRPr>
            </a:pPr>
            <a:r>
              <a:t>Refactoring Sito Web Professionale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89120"/>
            <a:ext cx="2133295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9BB0C4"/>
                </a:solidFill>
                <a:latin typeface="Georgia"/>
              </a:defRPr>
            </a:pPr>
            <a:r>
              <a:t>Fratelli Di Rosa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19C"/>
                </a:solidFill>
                <a:latin typeface="Calibri"/>
              </a:defRPr>
            </a:pPr>
            <a:r>
              <a:t>Agenzia Funebre  •  Ravanusa (AG)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C"/>
                </a:solidFill>
                <a:latin typeface="Calibri"/>
              </a:defRPr>
            </a:pPr>
            <a:r>
              <a:t>A cura di: Enrico Maria Caruso  •  Full Stack Developer &amp; Web Designer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ANALISI DEL SITO ATTUALE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  <a:latin typeface="Georgia"/>
              </a:defRPr>
            </a:pPr>
            <a:r>
              <a:t>agenziafunebrefratellidirosa.com — I problemi rilevati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19C"/>
                </a:solidFill>
                <a:latin typeface="Calibri"/>
              </a:defRPr>
            </a:pPr>
            <a:r>
              <a:t>Il vostro sito attuale è basato su WordPress con un design datato che non riflette più la qualità e la professionalità della vostra agenzia. Ecco i principali problemi identificati: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Design Datato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L'aspetto grafico non è al passo con</a:t>
            </a:r>
            <a:br/>
            <a:r>
              <a:t>gli standard moderni del web.</a:t>
            </a:r>
            <a:br/>
            <a:r>
              <a:t>Non trasmette professionalità.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Lentezza di Caricamento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WordPress carica 2-5 MB di dati.</a:t>
            </a:r>
            <a:br/>
            <a:r>
              <a:t>I visitatori abbandonano il sito</a:t>
            </a:r>
            <a:br/>
            <a:r>
              <a:t>se non si carica in 3 secondi.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4320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Vulnerabilità di Sicurezza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WordPress richiede aggiornamenti</a:t>
            </a:r>
            <a:br/>
            <a:r>
              <a:t>costanti di core, plugin e temi.</a:t>
            </a:r>
            <a:br/>
            <a:r>
              <a:t>Ogni falla può essere sfruttata.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Non Ottimizzato per Mobile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Il design responsive è carente.</a:t>
            </a:r>
            <a:br/>
            <a:r>
              <a:t>La navigazione da smartphone</a:t>
            </a:r>
            <a:br/>
            <a:r>
              <a:t>è scomoda e poco intuitiva.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7548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SEO Insufficiente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Meta tag assenti o incompleti.</a:t>
            </a:r>
            <a:br/>
            <a:r>
              <a:t>Nessun Open Graph per i social.</a:t>
            </a:r>
            <a:br/>
            <a:r>
              <a:t>Posizionamento Google penalizzato.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7548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C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94C4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Non Conforme al GDPR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Manca il cookie banner obbligatorio.</a:t>
            </a:r>
            <a:br/>
            <a:r>
              <a:t>Nessuna privacy policy completa.</a:t>
            </a:r>
            <a:br/>
            <a:r>
              <a:t>Rischio sanzioni fino a 20M€.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L'IMPATTO SUI VOSTRI CLIENTI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Perché un sito datato vi fa perdere clienti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32004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9BB0C4"/>
                </a:solidFill>
                <a:latin typeface="Georgia"/>
              </a:defRPr>
            </a:pPr>
            <a: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dei consumatori giudica la</a:t>
            </a:r>
            <a:br/>
            <a:r>
              <a:t>credibilità di un'azienda</a:t>
            </a:r>
            <a:br/>
            <a:r>
              <a:t>dal suo sito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19C"/>
                </a:solidFill>
                <a:latin typeface="Calibri"/>
              </a:defRPr>
            </a:pPr>
            <a:r>
              <a:t>Stanford Web Credibility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566160" cy="32004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9BB0C4"/>
                </a:solidFill>
                <a:latin typeface="Georgia"/>
              </a:defRPr>
            </a:pPr>
            <a:r>
              <a:t>53%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degli utenti mobile abbandona</a:t>
            </a:r>
            <a:br/>
            <a:r>
              <a:t>un sito che impiega più</a:t>
            </a:r>
            <a:br/>
            <a:r>
              <a:t>di 3 secondi a caricarsi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19C"/>
                </a:solidFill>
                <a:latin typeface="Calibri"/>
              </a:defRPr>
            </a:pPr>
            <a:r>
              <a:t>Google Mobile Speed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66160" cy="32004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9BB0C4"/>
                </a:solidFill>
                <a:latin typeface="Georgia"/>
              </a:defRPr>
            </a:pPr>
            <a: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AED"/>
                </a:solidFill>
                <a:latin typeface="Calibri"/>
              </a:defRPr>
            </a:pPr>
            <a:r>
              <a:t>degli utenti non torna</a:t>
            </a:r>
            <a:br/>
            <a:r>
              <a:t>su un sito dopo una</a:t>
            </a:r>
            <a:br/>
            <a:r>
              <a:t>brutta esperienza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19C"/>
                </a:solidFill>
                <a:latin typeface="Calibri"/>
              </a:defRPr>
            </a:pPr>
            <a:r>
              <a:t>Gomez / Akamai 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486400"/>
            <a:ext cx="9448495" cy="914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E6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62356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2E"/>
                </a:solidFill>
                <a:latin typeface="Calibri"/>
              </a:defRPr>
            </a:pPr>
            <a:r>
              <a:t>⚠  Un sito web datato e lento non è solo un problema estetico: vi fa perdere clienti reali che si rivolgono alla concorrenza.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LA NOSTRA SOLUZIONE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Un sito web moderno, elegante e performante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A919C"/>
                </a:solidFill>
                <a:latin typeface="Calibri"/>
              </a:defRPr>
            </a:pPr>
            <a:r>
              <a:t>Realizziamo un sito completamente nuovo, progettato da zero con tecnologie moderne e un design elegante su tema scuro con accenti blu/argento. Nessun WordPress, nessun template: codice proprietario, ultra-veloce e sicuro.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Design Moderno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Tema elegante scuro con palette</a:t>
            </a:r>
            <a:br/>
            <a:r>
              <a:t>blu/argento, particelle animate,</a:t>
            </a:r>
            <a:br/>
            <a:r>
              <a:t>animazioni fluide al scroll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Ultra Veloce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66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Caricamento in meno di 1 secondo.</a:t>
            </a:r>
            <a:br/>
            <a:r>
              <a:t>Solo ~300 KB. Nessun plugin</a:t>
            </a:r>
            <a:br/>
            <a:r>
              <a:t>o database da caricare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Sicuro al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66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Nessun CMS, nessun plugin,</a:t>
            </a:r>
            <a:br/>
            <a:r>
              <a:t>nessuna vulnerabilità.</a:t>
            </a:r>
            <a:br/>
            <a:r>
              <a:t>Zero manutenzione tecnica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100% Responsive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Perfetto su desktop, tablet</a:t>
            </a:r>
            <a:br/>
            <a:r>
              <a:t>e smartphone. Menu hamburger</a:t>
            </a:r>
            <a:br/>
            <a:r>
              <a:t>e layout adattivo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93776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SEO Ottimizzato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577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Meta tag completi, Open Graph,</a:t>
            </a:r>
            <a:br/>
            <a:r>
              <a:t>HTML semantico, velocità</a:t>
            </a:r>
            <a:br/>
            <a:r>
              <a:t>di caricamento 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937760"/>
            <a:ext cx="3566160" cy="18288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CAF5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Calibri"/>
              </a:defRPr>
            </a:pPr>
            <a:r>
              <a:t>GDPR Compliant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577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Cookie banner, privacy policy,</a:t>
            </a:r>
            <a:br/>
            <a:r>
              <a:t>cookie policy, consenso Maps,</a:t>
            </a:r>
            <a:br/>
            <a:r>
              <a:t>checkbox form contatto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CONFRONTO: PRIMA vs DOPO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Cosa cambia con il refactoring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657600" cy="54864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1821"/>
                </a:solidFill>
                <a:latin typeface="Calibri"/>
              </a:defRPr>
            </a:pPr>
            <a:r>
              <a:t>Caratteristica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920240"/>
            <a:ext cx="3657600" cy="548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Calibri"/>
              </a:defRPr>
            </a:pPr>
            <a:r>
              <a:t>✗  Sito Attuale (WordPress)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920240"/>
            <a:ext cx="3383280" cy="548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AED"/>
                </a:solidFill>
                <a:latin typeface="Calibri"/>
              </a:defRPr>
            </a:pPr>
            <a:r>
              <a:t>✓  Nuovo Sito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4203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4203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Datato, poco professionale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4203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Moderno, elegante, su misura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5351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Velocità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5351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2-5 secondi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95351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&lt; 1 secondo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6499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Peso pagina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6499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2-5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6499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~ 300 KB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49039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76471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776471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Non ottimizzato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776471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100% responsive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6052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18795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Vulnerabilità CMS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18795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Zero vulnerabilità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7200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9943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GDPR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9943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Non conforme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59943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Pienamente conforme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98348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01091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01091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10-50 €/mese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01091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39496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2239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42239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Plugin da aggiornare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42239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Zero manutenzione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806440"/>
            <a:ext cx="10698480" cy="39319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83387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83387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Meta tag incompleti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83387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Ottimizzazione completa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6217920"/>
            <a:ext cx="10698480" cy="393192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6245352"/>
            <a:ext cx="3291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D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6245352"/>
            <a:ext cx="3657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4C4C"/>
                </a:solidFill>
                <a:latin typeface="Calibri"/>
              </a:defRPr>
            </a:pPr>
            <a:r>
              <a:t>Non presente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6245352"/>
            <a:ext cx="3383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Pulsante sempre visibile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STRUTTURA DEL NUOVO SITO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Single-page con navigazione fluida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HOME / HERO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Titolo, sottotitolo, particelle</a:t>
            </a:r>
            <a:br/>
            <a:r>
              <a:t>animate, badge diurno/notturno,</a:t>
            </a:r>
            <a:br/>
            <a:r>
              <a:t>numeri Giuseppe e Gaspare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CHI SIAMO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Impresa familiare, certificazioni,</a:t>
            </a:r>
            <a:br/>
            <a:r>
              <a:t>valori: Professionalità,</a:t>
            </a:r>
            <a:br/>
            <a:r>
              <a:t>Discrezione, Competenza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SERVIZI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7 card: Agenzia completa,</a:t>
            </a:r>
            <a:br/>
            <a:r>
              <a:t>Cimiteriali, Tanatoestetica,</a:t>
            </a:r>
            <a:br/>
            <a:r>
              <a:t>Camera Ardente, Fiori, Burocrazia...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01168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GALLERIA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Griglia foto con lightbox</a:t>
            </a:r>
            <a:br/>
            <a:r>
              <a:t>carousel, navigazione frecce,</a:t>
            </a:r>
            <a:br/>
            <a:r>
              <a:t>tastiera e swipe touch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PERCHÉ SCEGLIERCI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3 punti di forza: Diurno/</a:t>
            </a:r>
            <a:br/>
            <a:r>
              <a:t>Notturno, Certificazioni,</a:t>
            </a:r>
            <a:br/>
            <a:r>
              <a:t>Vicinanza Umana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38912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CONTATTI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Indirizzo, 2 telefoni con nomi,</a:t>
            </a:r>
            <a:br/>
            <a:r>
              <a:t>email, form con validazione,</a:t>
            </a:r>
            <a:br/>
            <a:r>
              <a:t>Google Maps interattiva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89120"/>
            <a:ext cx="2697480" cy="210312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8FA3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Calibri"/>
              </a:defRPr>
            </a:pPr>
            <a:r>
              <a:t>FOOTER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Calibri"/>
              </a:defRPr>
            </a:pPr>
            <a:r>
              <a:t>Dati aziendali, P.IVA, link</a:t>
            </a:r>
            <a:br/>
            <a:r>
              <a:t>utili, social Facebook e</a:t>
            </a:r>
            <a:br/>
            <a:r>
              <a:t>Instagram, Privacy e Cookie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MOCKUP: HERO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8495" cy="5029200"/>
          </a:xfrm>
          <a:prstGeom prst="roundRect">
            <a:avLst/>
          </a:prstGeom>
          <a:solidFill>
            <a:srgbClr val="0F1218"/>
          </a:solidFill>
          <a:ln w="254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9448495" cy="548640"/>
          </a:xfrm>
          <a:prstGeom prst="rect">
            <a:avLst/>
          </a:prstGeom>
          <a:solidFill>
            <a:srgbClr val="12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8FA3"/>
                </a:solidFill>
                <a:latin typeface="Calibri"/>
              </a:defRPr>
            </a:pPr>
            <a:r>
              <a:t>DR  Fratelli Di Rosa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8EAED"/>
                </a:solidFill>
                <a:latin typeface="Calibri"/>
              </a:defRPr>
            </a:pPr>
            <a:r>
              <a:t>Home    Chi Siamo    Servizi    Galleria    Contatti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860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A4A"/>
                </a:solidFill>
                <a:latin typeface="Calibri"/>
              </a:defRPr>
            </a:pPr>
            <a:r>
              <a:t>• • •  particelle animate  • • 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EAED"/>
                </a:solidFill>
                <a:latin typeface="Georgia"/>
              </a:defRPr>
            </a:pPr>
            <a:r>
              <a:t>Fratelli Di 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8328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B8FA3"/>
                </a:solidFill>
                <a:latin typeface="Calibri"/>
              </a:defRPr>
            </a:pPr>
            <a:r>
              <a:t>AGENZIA FUNEBRE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3840480"/>
            <a:ext cx="1218895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C"/>
                </a:solidFill>
                <a:latin typeface="Georgia"/>
              </a:defRPr>
            </a:pPr>
            <a:r>
              <a:t>Ci prendiamo cura di ogni dettaglio per</a:t>
            </a:r>
            <a:br/>
            <a:r>
              <a:t>un addio rispettoso e dignitoso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754880"/>
            <a:ext cx="2133295" cy="502920"/>
          </a:xfrm>
          <a:prstGeom prst="round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800600"/>
            <a:ext cx="2133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1821"/>
                </a:solidFill>
                <a:latin typeface="Calibri"/>
              </a:defRPr>
            </a:pPr>
            <a:r>
              <a:t>✉  CONTATTACI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5394960"/>
            <a:ext cx="3047695" cy="365760"/>
          </a:xfrm>
          <a:prstGeom prst="roundRect">
            <a:avLst/>
          </a:prstGeom>
          <a:noFill/>
          <a:ln w="127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5413248"/>
            <a:ext cx="3047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8FA3"/>
                </a:solidFill>
                <a:latin typeface="Calibri"/>
              </a:defRPr>
            </a:pPr>
            <a:r>
              <a:t>⏰  Servizio Diurno e Notturno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8521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19C"/>
                </a:solidFill>
                <a:latin typeface="Calibri"/>
              </a:defRPr>
            </a:pPr>
            <a:r>
              <a:t>Giuseppe: ☎ 328 968 5570    Gaspare: ☎ 328 748 0631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MOCKUP: SERVIZI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AED"/>
                </a:solidFill>
                <a:latin typeface="Georgia"/>
              </a:defRPr>
            </a:pPr>
            <a:r>
              <a:t>7 servizi presentati con card interattive e icone dedicate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Agenzia Funebre</a:t>
            </a:r>
            <a:br/>
            <a:r>
              <a:t>Completa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Lavori</a:t>
            </a:r>
            <a:br/>
            <a:r>
              <a:t>Cimiteriali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Tanatoestetica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228600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91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Camera</a:t>
            </a:r>
            <a:br/>
            <a:r>
              <a:t>Ardente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8912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54480" y="466344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800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Addobbi</a:t>
            </a:r>
            <a:br/>
            <a:r>
              <a:t>Floreali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438912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438912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89120" y="466344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800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Assistenza</a:t>
            </a:r>
            <a:br/>
            <a:r>
              <a:t>Burocratica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389120"/>
            <a:ext cx="2560320" cy="20116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389120"/>
            <a:ext cx="256032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23760" y="4663440"/>
            <a:ext cx="914400" cy="914400"/>
          </a:xfrm>
          <a:prstGeom prst="ellipse">
            <a:avLst/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48006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B8FA3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AED"/>
                </a:solidFill>
                <a:latin typeface="Georgia"/>
              </a:defRPr>
            </a:pPr>
            <a:r>
              <a:t>Cremazione</a:t>
            </a:r>
            <a:br/>
            <a:r>
              <a:t>Salma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COSA INCLUDE IL PROGETTO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Georgia"/>
              </a:defRPr>
            </a:pPr>
            <a:r>
              <a:t>Tutto ciò che è incluso nel refactoring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Design esclusivo blu/argento (no template)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Sito single-page con 7 sezioni complete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7 servizi dettagliati con icone animate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Galleria fotografica con carousel lightbox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Animazioni professionali (particelle, fade-in)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2 numeri di telefono con nomi (click-to-call)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Pulsante WhatsApp sempre visibile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Modulo di contatto con validazione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Mappa Google Maps interattiva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Conformità GDPR completa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Privacy Policy e Cookie Policy dedicate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Design responsive per tutti i dispositivi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Ottimizzazione SEO per Google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Favicon personalizzato "DR"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Hosting gratuito incluso (GitHub Pages)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Codice sorgente di proprietà del cliente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PREVENTIVO ECONOMICO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  <a:latin typeface="Georgia"/>
              </a:defRPr>
            </a:pPr>
            <a:r>
              <a:t>Investimento per il refactoring del vostro sito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8229600" cy="50292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1821"/>
                </a:solidFill>
                <a:latin typeface="Calibri"/>
              </a:defRPr>
            </a:pPr>
            <a:r>
              <a:t>Voce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920240"/>
            <a:ext cx="2468880" cy="50292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965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1821"/>
                </a:solidFill>
                <a:latin typeface="Calibri"/>
              </a:defRPr>
            </a:pPr>
            <a:r>
              <a:t>Importo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7802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Analisi sito attuale e progettazione nuovo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7802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120,00 €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25496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Sviluppo front-end (HTML5, CSS3, JavaScript)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83464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180,00 €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82112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Design responsive (desktop, tablet, mobile)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91256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70,00 €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38728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47872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Animazioni e interazioni (particelle, scroll, carousel)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54787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50,00 €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95344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04488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Galleria fotografica con lightbox carousel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904488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51960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6110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Integrazione Google Maps e link di contatto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26110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30,00 €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08576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Conformità GDPR (cookie banner, privacy, cookie policy)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61772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60,00 €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965192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74336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Ottimizzazione SEO base e meta tag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974336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321808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30952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Generazione favicon e icone personalizzate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33095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10,00 €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678424"/>
            <a:ext cx="10698480" cy="33832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687568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Pubblicazione online e configurazione hosting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687568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035040"/>
            <a:ext cx="10698480" cy="3383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604418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8A919C"/>
                </a:solidFill>
                <a:latin typeface="Calibri"/>
              </a:defRPr>
            </a:pPr>
            <a:r>
              <a:t>Migrazione contenuti dal sito attuale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604418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E8EAED"/>
                </a:solidFill>
                <a:latin typeface="Calibri"/>
              </a:defRPr>
            </a:pPr>
            <a:r>
              <a:t>30,00 €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483096"/>
            <a:ext cx="10698480" cy="54864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5562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1821"/>
                </a:solidFill>
                <a:latin typeface="Calibri"/>
              </a:defRPr>
            </a:pPr>
            <a:r>
              <a:t>TOTALE (IVA esclusa)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65562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1821"/>
                </a:solidFill>
                <a:latin typeface="Calibri"/>
              </a:defRPr>
            </a:pPr>
            <a:r>
              <a:t>670,00 €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721461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t>Risparmio rispetto alla media di mercato: oltre il 50%  (Media web agency per refactoring: 1.500 - 3.000 €)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8FA3"/>
                </a:solidFill>
                <a:latin typeface="Calibri"/>
              </a:defRPr>
            </a:pPr>
            <a:r>
              <a:t>COSTI RICORRENTI E MODALITÀ DI PAGAMENTO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D"/>
                </a:solidFill>
                <a:latin typeface="Georgia"/>
              </a:defRPr>
            </a:pPr>
            <a:r>
              <a:t>Costi Ricorrenti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821"/>
                </a:solidFill>
                <a:latin typeface="Calibri"/>
              </a:defRPr>
            </a:pPr>
            <a:r>
              <a:t>Voce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920240"/>
            <a:ext cx="1371600" cy="4572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1821"/>
                </a:solidFill>
                <a:latin typeface="Calibri"/>
              </a:defRPr>
            </a:pPr>
            <a:r>
              <a:t>Costo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4572000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19C"/>
                </a:solidFill>
                <a:latin typeface="Calibri"/>
              </a:defRPr>
            </a:pPr>
            <a:r>
              <a:t>Hosting (GitHub Pages)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450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4572000" cy="384048"/>
          </a:xfrm>
          <a:prstGeom prst="rect">
            <a:avLst/>
          </a:prstGeom>
          <a:solidFill>
            <a:srgbClr val="1E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19C"/>
                </a:solidFill>
                <a:latin typeface="Calibri"/>
              </a:defRPr>
            </a:pPr>
            <a:r>
              <a:t>Dominio (se richiesto)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A919C"/>
                </a:solidFill>
                <a:latin typeface="Calibri"/>
              </a:defRPr>
            </a:pPr>
            <a:r>
              <a:t>10-15 €/anno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4572000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73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19C"/>
                </a:solidFill>
                <a:latin typeface="Calibri"/>
              </a:defRPr>
            </a:pPr>
            <a:r>
              <a:t>Manutenzione/aggiornamenti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73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A919C"/>
                </a:solidFill>
                <a:latin typeface="Calibri"/>
              </a:defRPr>
            </a:pPr>
            <a:r>
              <a:t>Su richiesta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D"/>
                </a:solidFill>
                <a:latin typeface="Georgia"/>
              </a:defRPr>
            </a:pPr>
            <a:r>
              <a:t>Modalità di Pagamento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20240"/>
            <a:ext cx="5029200" cy="228600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9456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50% all'accettazione del preventivo (acconto)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50% alla consegna e pubblicazione del sito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>
                <a:solidFill>
                  <a:srgbClr val="7B8FA3"/>
                </a:solidFill>
                <a:latin typeface="Calibri"/>
              </a:rPr>
              <a:t>◆  </a:t>
            </a:r>
            <a:r>
              <a:rPr sz="1500">
                <a:solidFill>
                  <a:srgbClr val="8A919C"/>
                </a:solidFill>
                <a:latin typeface="Calibri"/>
              </a:rPr>
              <a:t>Pagamento tramite bonifico bancario o contanti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114800"/>
            <a:ext cx="9448495" cy="201168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7B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3891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B8FA3"/>
                </a:solidFill>
                <a:latin typeface="Calibri"/>
              </a:defRPr>
            </a:pPr>
            <a:r>
              <a:t>RIEPILOGO INVESTIMENTO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63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EAED"/>
                </a:solidFill>
                <a:latin typeface="Georgia"/>
              </a:defRPr>
            </a:pPr>
            <a:r>
              <a:t>670,00 €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864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C"/>
                </a:solidFill>
                <a:latin typeface="Calibri"/>
              </a:defRPr>
            </a:pPr>
            <a:r>
              <a:t>IVA esclusa  •  Hosting gratuito incluso  •  Codice di proprietà del cliente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8FA3"/>
                </a:solidFill>
                <a:latin typeface="Calibri"/>
              </a:defRPr>
            </a:pPr>
            <a:r>
              <a:t>GRAZIE PER L'ATTENZIONE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EAED"/>
                </a:solidFill>
                <a:latin typeface="Georgia"/>
              </a:defRPr>
            </a:pPr>
            <a:r>
              <a:t>Pronti a rinnovare la</a:t>
            </a:r>
            <a:br/>
            <a:r>
              <a:t>vostra presenza online?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381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EAED"/>
                </a:solidFill>
                <a:latin typeface="Georgia"/>
              </a:defRPr>
            </a:pPr>
            <a:r>
              <a:t>Enrico Maria Caruso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19C"/>
                </a:solidFill>
                <a:latin typeface="Calibri"/>
              </a:defRPr>
            </a:pPr>
            <a:r>
              <a:t>Full Stack Developer &amp; Web Designer Freelance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B8FA3"/>
                </a:solidFill>
                <a:latin typeface="Calibri"/>
              </a:defRPr>
            </a:pPr>
            <a:r>
              <a:t>◆  www.enricomariacaruso.it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91695" cy="50800"/>
          </a:xfrm>
          <a:prstGeom prst="rect">
            <a:avLst/>
          </a:prstGeom>
          <a:solidFill>
            <a:srgbClr val="7B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